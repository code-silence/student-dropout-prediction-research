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11"/>
  </p:notesMasterIdLst>
  <p:handoutMasterIdLst>
    <p:handoutMasterId r:id="rId12"/>
  </p:handoutMasterIdLst>
  <p:sldIdLst>
    <p:sldId id="256" r:id="rId2"/>
    <p:sldId id="293" r:id="rId3"/>
    <p:sldId id="280" r:id="rId4"/>
    <p:sldId id="298" r:id="rId5"/>
    <p:sldId id="299" r:id="rId6"/>
    <p:sldId id="297" r:id="rId7"/>
    <p:sldId id="294" r:id="rId8"/>
    <p:sldId id="296" r:id="rId9"/>
    <p:sldId id="292" r:id="rId1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6" autoAdjust="0"/>
    <p:restoredTop sz="94660"/>
  </p:normalViewPr>
  <p:slideViewPr>
    <p:cSldViewPr>
      <p:cViewPr varScale="1">
        <p:scale>
          <a:sx n="78" d="100"/>
          <a:sy n="78" d="100"/>
        </p:scale>
        <p:origin x="835" y="67"/>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39134B-6EA9-4ED3-962D-9AD456B91A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765163C-D952-45C1-BBBC-07F9E6FC4AB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CFA23-11E8-4C5D-9D6A-8BF897C03BEE}" type="datetimeFigureOut">
              <a:rPr lang="en-US" smtClean="0"/>
              <a:t>21-04-26</a:t>
            </a:fld>
            <a:endParaRPr lang="en-US"/>
          </a:p>
        </p:txBody>
      </p:sp>
      <p:sp>
        <p:nvSpPr>
          <p:cNvPr id="4" name="Footer Placeholder 3">
            <a:extLst>
              <a:ext uri="{FF2B5EF4-FFF2-40B4-BE49-F238E27FC236}">
                <a16:creationId xmlns:a16="http://schemas.microsoft.com/office/drawing/2014/main" id="{8B195E4B-BAE0-4747-A3B3-1C13E52586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804705-DBC4-4C7F-BFAD-CC24981639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608380-18BC-4B1D-BC9C-F9B2C0157107}" type="slidenum">
              <a:rPr lang="en-US" smtClean="0"/>
              <a:t>‹#›</a:t>
            </a:fld>
            <a:endParaRPr lang="en-US"/>
          </a:p>
        </p:txBody>
      </p:sp>
    </p:spTree>
    <p:extLst>
      <p:ext uri="{BB962C8B-B14F-4D97-AF65-F5344CB8AC3E}">
        <p14:creationId xmlns:p14="http://schemas.microsoft.com/office/powerpoint/2010/main" val="21231349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21-04-26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21-04-26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5" name="Rectangle 4"/>
          <p:cNvSpPr/>
          <p:nvPr/>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21-04-26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5951845"/>
            <a:ext cx="1538817" cy="411162"/>
          </a:xfrm>
          <a:prstGeom prst="rect">
            <a:avLst/>
          </a:prstGeom>
          <a:noFill/>
          <a:ln w="9525">
            <a:noFill/>
            <a:miter lim="800000"/>
            <a:headEnd/>
            <a:tailEnd/>
          </a:ln>
        </p:spPr>
      </p:pic>
      <p:sp>
        <p:nvSpPr>
          <p:cNvPr id="12" name="Rectangle 11"/>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Title Phase Evaluation</a:t>
            </a:r>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Title Phase Evaluation</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80964"/>
            <a:ext cx="2901949" cy="574675"/>
          </a:xfrm>
          <a:prstGeom prst="rect">
            <a:avLst/>
          </a:prstGeom>
          <a:noFill/>
          <a:ln w="9525">
            <a:noFill/>
            <a:miter lim="800000"/>
            <a:headEnd/>
            <a:tailEnd/>
          </a:ln>
        </p:spPr>
      </p:pic>
      <p:sp>
        <p:nvSpPr>
          <p:cNvPr id="7" name="Rectangle 6"/>
          <p:cNvSpPr/>
          <p:nvPr userDrawn="1"/>
        </p:nvSpPr>
        <p:spPr>
          <a:xfrm>
            <a:off x="914400" y="320040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8" name="Rectangle 7"/>
          <p:cNvSpPr/>
          <p:nvPr userDrawn="1"/>
        </p:nvSpPr>
        <p:spPr>
          <a:xfrm>
            <a:off x="6400800" y="3200400"/>
            <a:ext cx="52832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Supervised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914400" y="3886200"/>
            <a:ext cx="5181600"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8" name="Text Placeholder 27"/>
          <p:cNvSpPr>
            <a:spLocks noGrp="1"/>
          </p:cNvSpPr>
          <p:nvPr>
            <p:ph type="body" sz="quarter" idx="13"/>
          </p:nvPr>
        </p:nvSpPr>
        <p:spPr>
          <a:xfrm>
            <a:off x="6400800" y="3886200"/>
            <a:ext cx="5283200" cy="2209800"/>
          </a:xfrm>
        </p:spPr>
        <p:txBody>
          <a:bodyPr>
            <a:normAutofit/>
          </a:bodyPr>
          <a:lstStyle>
            <a:lvl1pPr algn="ctr">
              <a:buNone/>
              <a:defRPr sz="2700">
                <a:solidFill>
                  <a:srgbClr val="0070C0"/>
                </a:solidFill>
              </a:defRPr>
            </a:lvl1pPr>
          </a:lstStyle>
          <a:p>
            <a:pPr lvl="0"/>
            <a:r>
              <a:rPr lang="en-US"/>
              <a:t>Click to edit Master text styles</a:t>
            </a:r>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21-04-26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Title Phase Evaluation</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21-04-26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21-04-26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38300" y="1219200"/>
            <a:ext cx="8915400" cy="990600"/>
          </a:xfrm>
        </p:spPr>
        <p:txBody>
          <a:bodyPr rtlCol="0">
            <a:noAutofit/>
          </a:bodyPr>
          <a:lstStyle/>
          <a:p>
            <a:pPr>
              <a:defRPr/>
            </a:pPr>
            <a:r>
              <a:rPr lang="en-US" sz="3600" dirty="0">
                <a:solidFill>
                  <a:srgbClr val="7030A0"/>
                </a:solidFill>
              </a:rPr>
              <a:t>Title: Transparent Predictions: Using Interpretable Dynamic Model to Understand University Student Dropout Factors</a:t>
            </a:r>
          </a:p>
        </p:txBody>
      </p:sp>
      <p:sp>
        <p:nvSpPr>
          <p:cNvPr id="5" name="Subtitle 4"/>
          <p:cNvSpPr>
            <a:spLocks noGrp="1"/>
          </p:cNvSpPr>
          <p:nvPr>
            <p:ph type="subTitle" idx="1"/>
          </p:nvPr>
        </p:nvSpPr>
        <p:spPr>
          <a:xfrm>
            <a:off x="1143000" y="3797432"/>
            <a:ext cx="4572000" cy="2057400"/>
          </a:xfrm>
        </p:spPr>
        <p:txBody>
          <a:bodyPr rtlCol="0">
            <a:normAutofit fontScale="77500" lnSpcReduction="20000"/>
          </a:bodyPr>
          <a:lstStyle/>
          <a:p>
            <a:pPr>
              <a:defRPr/>
            </a:pPr>
            <a:r>
              <a:rPr lang="en-US" sz="2800" b="1" dirty="0">
                <a:solidFill>
                  <a:schemeClr val="tx1"/>
                </a:solidFill>
                <a:latin typeface="Times New Roman" pitchFamily="18" charset="0"/>
                <a:cs typeface="Times New Roman" pitchFamily="18" charset="0"/>
              </a:rPr>
              <a:t>Arnob Das</a:t>
            </a:r>
          </a:p>
          <a:p>
            <a:pPr>
              <a:defRPr/>
            </a:pPr>
            <a:r>
              <a:rPr lang="en-US" sz="2800" b="1" dirty="0">
                <a:solidFill>
                  <a:schemeClr val="tx1"/>
                </a:solidFill>
                <a:latin typeface="Times New Roman" pitchFamily="18" charset="0"/>
                <a:cs typeface="Times New Roman" pitchFamily="18" charset="0"/>
              </a:rPr>
              <a:t> (ID: 0242310005101361)</a:t>
            </a:r>
          </a:p>
          <a:p>
            <a:pPr>
              <a:defRPr/>
            </a:pPr>
            <a:r>
              <a:rPr lang="en-US" sz="2800" b="1" dirty="0">
                <a:solidFill>
                  <a:schemeClr val="tx1"/>
                </a:solidFill>
                <a:latin typeface="Times New Roman" pitchFamily="18" charset="0"/>
                <a:cs typeface="Times New Roman" pitchFamily="18" charset="0"/>
              </a:rPr>
              <a:t>Md. Shazzadur Rahman </a:t>
            </a:r>
            <a:r>
              <a:rPr lang="en-US" sz="2800" b="1" dirty="0" err="1">
                <a:solidFill>
                  <a:schemeClr val="tx1"/>
                </a:solidFill>
                <a:latin typeface="Times New Roman" pitchFamily="18" charset="0"/>
                <a:cs typeface="Times New Roman" pitchFamily="18" charset="0"/>
              </a:rPr>
              <a:t>Piash</a:t>
            </a:r>
            <a:r>
              <a:rPr lang="en-US" sz="2800" b="1" dirty="0">
                <a:solidFill>
                  <a:schemeClr val="tx1"/>
                </a:solidFill>
                <a:latin typeface="Times New Roman" pitchFamily="18" charset="0"/>
                <a:cs typeface="Times New Roman" pitchFamily="18" charset="0"/>
              </a:rPr>
              <a:t> </a:t>
            </a:r>
          </a:p>
          <a:p>
            <a:pPr>
              <a:defRPr/>
            </a:pPr>
            <a:r>
              <a:rPr lang="en-US" sz="2800" b="1" dirty="0">
                <a:solidFill>
                  <a:schemeClr val="tx1"/>
                </a:solidFill>
                <a:latin typeface="Times New Roman" pitchFamily="18" charset="0"/>
                <a:cs typeface="Times New Roman" pitchFamily="18" charset="0"/>
              </a:rPr>
              <a:t>(ID: 0242310005101583)</a:t>
            </a:r>
          </a:p>
          <a:p>
            <a:pPr>
              <a:defRPr/>
            </a:pPr>
            <a:r>
              <a:rPr lang="en-US" sz="2800" dirty="0">
                <a:solidFill>
                  <a:schemeClr val="tx1"/>
                </a:solidFill>
                <a:latin typeface="Times New Roman" pitchFamily="18" charset="0"/>
                <a:cs typeface="Times New Roman" pitchFamily="18" charset="0"/>
              </a:rPr>
              <a:t>Department of CSE </a:t>
            </a:r>
          </a:p>
          <a:p>
            <a:pPr>
              <a:defRPr/>
            </a:pPr>
            <a:r>
              <a:rPr lang="en-US" sz="2800" dirty="0">
                <a:solidFill>
                  <a:schemeClr val="tx1"/>
                </a:solidFill>
                <a:latin typeface="Times New Roman" pitchFamily="18" charset="0"/>
                <a:cs typeface="Times New Roman" pitchFamily="18" charset="0"/>
              </a:rPr>
              <a:t>Daffodil International University</a:t>
            </a:r>
            <a:endParaRPr lang="en-US" sz="2800" dirty="0">
              <a:latin typeface="Times New Roman" panose="02020603050405020304" pitchFamily="18" charset="0"/>
              <a:cs typeface="Times New Roman" panose="02020603050405020304" pitchFamily="18" charset="0"/>
            </a:endParaRPr>
          </a:p>
          <a:p>
            <a:pPr>
              <a:defRPr/>
            </a:pPr>
            <a:endParaRPr lang="en-US" sz="2800" dirty="0">
              <a:solidFill>
                <a:schemeClr val="tx1"/>
              </a:solidFill>
              <a:latin typeface="Times New Roman" pitchFamily="18" charset="0"/>
              <a:cs typeface="Times New Roman" pitchFamily="18" charset="0"/>
            </a:endParaRPr>
          </a:p>
          <a:p>
            <a:pPr>
              <a:defRPr/>
            </a:pPr>
            <a:endParaRPr lang="en-US" sz="2800" dirty="0">
              <a:solidFill>
                <a:schemeClr val="tx1"/>
              </a:solidFill>
              <a:latin typeface="Times New Roman" pitchFamily="18" charset="0"/>
              <a:cs typeface="Times New Roman" pitchFamily="18" charset="0"/>
            </a:endParaRPr>
          </a:p>
          <a:p>
            <a:pPr>
              <a:defRPr/>
            </a:pPr>
            <a:endParaRPr lang="en-US" sz="2600" dirty="0">
              <a:solidFill>
                <a:schemeClr val="tx1"/>
              </a:solidFill>
              <a:latin typeface="Times New Roman" pitchFamily="18" charset="0"/>
              <a:cs typeface="Times New Roman" pitchFamily="18" charset="0"/>
            </a:endParaRP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
        <p:nvSpPr>
          <p:cNvPr id="4100" name="Text Placeholder 5"/>
          <p:cNvSpPr>
            <a:spLocks noGrp="1"/>
          </p:cNvSpPr>
          <p:nvPr>
            <p:ph type="body" sz="quarter" idx="13"/>
          </p:nvPr>
        </p:nvSpPr>
        <p:spPr>
          <a:xfrm>
            <a:off x="6705600" y="3797432"/>
            <a:ext cx="4800600" cy="2057400"/>
          </a:xfrm>
        </p:spPr>
        <p:txBody>
          <a:bodyPr>
            <a:noAutofit/>
          </a:bodyPr>
          <a:lstStyle/>
          <a:p>
            <a:r>
              <a:rPr lang="en-US" sz="2600" b="1" dirty="0">
                <a:latin typeface="Times New Roman" panose="02020603050405020304" pitchFamily="18" charset="0"/>
                <a:cs typeface="Times New Roman" panose="02020603050405020304" pitchFamily="18" charset="0"/>
              </a:rPr>
              <a:t>Mr. Saiful Islam</a:t>
            </a:r>
          </a:p>
          <a:p>
            <a:r>
              <a:rPr lang="en-US" sz="2600" b="1" dirty="0">
                <a:solidFill>
                  <a:schemeClr val="tx1"/>
                </a:solidFill>
                <a:latin typeface="Times New Roman" panose="02020603050405020304" pitchFamily="18" charset="0"/>
                <a:cs typeface="Times New Roman" pitchFamily="18" charset="0"/>
              </a:rPr>
              <a:t>Assistant Professor</a:t>
            </a:r>
          </a:p>
          <a:p>
            <a:r>
              <a:rPr lang="en-US" sz="2600" dirty="0">
                <a:solidFill>
                  <a:schemeClr val="tx1"/>
                </a:solidFill>
                <a:latin typeface="Times New Roman" pitchFamily="18" charset="0"/>
                <a:cs typeface="Times New Roman" pitchFamily="18" charset="0"/>
              </a:rPr>
              <a:t>Department of CSE </a:t>
            </a:r>
          </a:p>
          <a:p>
            <a:pPr eaLnBrk="1" hangingPunct="1"/>
            <a:r>
              <a:rPr lang="en-US" sz="2600" dirty="0">
                <a:solidFill>
                  <a:schemeClr val="tx1"/>
                </a:solidFill>
                <a:latin typeface="Times New Roman" pitchFamily="18" charset="0"/>
                <a:cs typeface="Times New Roman" pitchFamily="18" charset="0"/>
              </a:rPr>
              <a:t>Daffodil International University</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anose="05000000000000000000" pitchFamily="2" charset="2"/>
              <a:buChar char="Ø"/>
            </a:pPr>
            <a:r>
              <a:rPr lang="en-US" sz="2600" dirty="0">
                <a:solidFill>
                  <a:schemeClr val="tx1"/>
                </a:solidFill>
                <a:latin typeface="Times New Roman" pitchFamily="18" charset="0"/>
                <a:cs typeface="Times New Roman" pitchFamily="18" charset="0"/>
              </a:rPr>
              <a:t>Develop a dynamic dropout prediction model using LSTM that continuously updates risk scores based on evolving student data.</a:t>
            </a:r>
          </a:p>
          <a:p>
            <a:pPr>
              <a:buFont typeface="Wingdings" panose="05000000000000000000" pitchFamily="2" charset="2"/>
              <a:buChar char="Ø"/>
            </a:pPr>
            <a:endParaRPr lang="en-US" sz="2600" dirty="0">
              <a:solidFill>
                <a:schemeClr val="tx1"/>
              </a:solidFill>
              <a:latin typeface="Times New Roman" pitchFamily="18" charset="0"/>
              <a:cs typeface="Times New Roman" pitchFamily="18" charset="0"/>
            </a:endParaRPr>
          </a:p>
          <a:p>
            <a:pPr>
              <a:buFont typeface="Wingdings" panose="05000000000000000000" pitchFamily="2" charset="2"/>
              <a:buChar char="Ø"/>
            </a:pPr>
            <a:r>
              <a:rPr lang="en-US" sz="2600" dirty="0">
                <a:solidFill>
                  <a:schemeClr val="tx1"/>
                </a:solidFill>
                <a:latin typeface="Times New Roman" pitchFamily="18" charset="0"/>
                <a:cs typeface="Times New Roman" pitchFamily="18" charset="0"/>
              </a:rPr>
              <a:t>Integrate SHAP to provide transparent, per-student explanations of dropout risk factors and identify critical risk thresholds.</a:t>
            </a:r>
          </a:p>
          <a:p>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2</a:t>
            </a:fld>
            <a:endParaRPr lang="en-US" dirty="0"/>
          </a:p>
        </p:txBody>
      </p:sp>
      <p:sp>
        <p:nvSpPr>
          <p:cNvPr id="7" name="TextBox 6"/>
          <p:cNvSpPr txBox="1"/>
          <p:nvPr/>
        </p:nvSpPr>
        <p:spPr>
          <a:xfrm>
            <a:off x="8991600" y="5334000"/>
            <a:ext cx="914400" cy="369332"/>
          </a:xfrm>
          <a:prstGeom prst="rect">
            <a:avLst/>
          </a:prstGeom>
          <a:noFill/>
        </p:spPr>
        <p:txBody>
          <a:bodyPr wrap="square" rtlCol="0">
            <a:spAutoFit/>
          </a:bodyPr>
          <a:lstStyle/>
          <a:p>
            <a:r>
              <a:rPr lang="en-US" b="1" dirty="0">
                <a:solidFill>
                  <a:srgbClr val="7030A0"/>
                </a:solidFill>
                <a:latin typeface="Times New Roman" pitchFamily="18" charset="0"/>
                <a:cs typeface="Times New Roman" pitchFamily="18" charset="0"/>
              </a:rPr>
              <a:t>cont..</a:t>
            </a:r>
            <a:endParaRPr lang="en-US" b="1" dirty="0"/>
          </a:p>
        </p:txBody>
      </p:sp>
    </p:spTree>
    <p:extLst>
      <p:ext uri="{BB962C8B-B14F-4D97-AF65-F5344CB8AC3E}">
        <p14:creationId xmlns:p14="http://schemas.microsoft.com/office/powerpoint/2010/main" val="825664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Motivation</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anose="05000000000000000000" pitchFamily="2" charset="2"/>
              <a:buChar char="Ø"/>
            </a:pPr>
            <a:r>
              <a:rPr lang="en-US" sz="2600" dirty="0">
                <a:solidFill>
                  <a:schemeClr val="tx1"/>
                </a:solidFill>
                <a:latin typeface="Times New Roman" pitchFamily="18" charset="0"/>
                <a:cs typeface="Times New Roman" pitchFamily="18" charset="0"/>
              </a:rPr>
              <a:t>University student dropout is a major global challenge affecting students’ futures, institutional performance, and societal development.</a:t>
            </a:r>
          </a:p>
          <a:p>
            <a:pPr>
              <a:buFont typeface="Wingdings" panose="05000000000000000000" pitchFamily="2" charset="2"/>
              <a:buChar char="Ø"/>
            </a:pPr>
            <a:r>
              <a:rPr lang="en-US" sz="2600" dirty="0">
                <a:solidFill>
                  <a:schemeClr val="tx1"/>
                </a:solidFill>
                <a:latin typeface="Times New Roman" pitchFamily="18" charset="0"/>
                <a:cs typeface="Times New Roman" pitchFamily="18" charset="0"/>
              </a:rPr>
              <a:t>Existing dropout prediction systems fail to explain the reasoning behind their predictions, leaving educators unable to design effective and targeted interventions. This gap motivates our work on an interpretable, dynamic prediction system.</a:t>
            </a: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3</a:t>
            </a:fld>
            <a:endParaRPr lang="en-US" dirty="0"/>
          </a:p>
        </p:txBody>
      </p:sp>
      <p:sp>
        <p:nvSpPr>
          <p:cNvPr id="7" name="TextBox 6"/>
          <p:cNvSpPr txBox="1"/>
          <p:nvPr/>
        </p:nvSpPr>
        <p:spPr>
          <a:xfrm>
            <a:off x="8991600" y="5334000"/>
            <a:ext cx="914400" cy="369332"/>
          </a:xfrm>
          <a:prstGeom prst="rect">
            <a:avLst/>
          </a:prstGeom>
          <a:noFill/>
        </p:spPr>
        <p:txBody>
          <a:bodyPr wrap="square" rtlCol="0">
            <a:spAutoFit/>
          </a:bodyPr>
          <a:lstStyle/>
          <a:p>
            <a:r>
              <a:rPr lang="en-US" b="1" dirty="0">
                <a:solidFill>
                  <a:srgbClr val="7030A0"/>
                </a:solidFill>
                <a:latin typeface="Times New Roman" pitchFamily="18" charset="0"/>
                <a:cs typeface="Times New Roman" pitchFamily="18" charset="0"/>
              </a:rPr>
              <a:t>cont..</a:t>
            </a:r>
            <a:endParaRPr lang="en-US" b="1" dirty="0"/>
          </a:p>
        </p:txBody>
      </p:sp>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4</a:t>
            </a:fld>
            <a:endParaRPr lang="en-US" dirty="0"/>
          </a:p>
        </p:txBody>
      </p:sp>
      <p:sp>
        <p:nvSpPr>
          <p:cNvPr id="7" name="TextBox 6"/>
          <p:cNvSpPr txBox="1"/>
          <p:nvPr/>
        </p:nvSpPr>
        <p:spPr>
          <a:xfrm>
            <a:off x="8991600" y="5334000"/>
            <a:ext cx="914400" cy="369332"/>
          </a:xfrm>
          <a:prstGeom prst="rect">
            <a:avLst/>
          </a:prstGeom>
          <a:noFill/>
        </p:spPr>
        <p:txBody>
          <a:bodyPr wrap="square" rtlCol="0">
            <a:spAutoFit/>
          </a:bodyPr>
          <a:lstStyle/>
          <a:p>
            <a:r>
              <a:rPr lang="en-US" b="1" dirty="0">
                <a:solidFill>
                  <a:srgbClr val="7030A0"/>
                </a:solidFill>
                <a:latin typeface="Times New Roman" pitchFamily="18" charset="0"/>
                <a:cs typeface="Times New Roman" pitchFamily="18" charset="0"/>
              </a:rPr>
              <a:t>cont..</a:t>
            </a:r>
            <a:endParaRPr lang="en-US" b="1" dirty="0"/>
          </a:p>
        </p:txBody>
      </p:sp>
      <p:sp>
        <p:nvSpPr>
          <p:cNvPr id="8" name="Content Placeholder 7">
            <a:extLst>
              <a:ext uri="{FF2B5EF4-FFF2-40B4-BE49-F238E27FC236}">
                <a16:creationId xmlns:a16="http://schemas.microsoft.com/office/drawing/2014/main" id="{A02A1D3E-BE5E-4DD9-8F0D-F0FF825AB0D3}"/>
              </a:ext>
            </a:extLst>
          </p:cNvPr>
          <p:cNvSpPr>
            <a:spLocks noGrp="1"/>
          </p:cNvSpPr>
          <p:nvPr>
            <p:ph sz="quarter" idx="13"/>
          </p:nvPr>
        </p:nvSpPr>
        <p:spPr/>
        <p:txBody>
          <a:bodyPr>
            <a:normAutofit/>
          </a:bodyPr>
          <a:lstStyle/>
          <a:p>
            <a:pPr>
              <a:buFont typeface="Wingdings" panose="05000000000000000000" pitchFamily="2" charset="2"/>
              <a:buChar char="Ø"/>
            </a:pPr>
            <a:r>
              <a:rPr lang="en-US" sz="2600" dirty="0">
                <a:solidFill>
                  <a:schemeClr val="tx1"/>
                </a:solidFill>
                <a:latin typeface="Times New Roman" pitchFamily="18" charset="0"/>
              </a:rPr>
              <a:t>Early research used statistical methods like logistic regression; later, random forests and neural networks gained popularity but raised transparency concerns.</a:t>
            </a:r>
            <a:endParaRPr lang="en-US" sz="2600" dirty="0"/>
          </a:p>
          <a:p>
            <a:pPr>
              <a:buFont typeface="Wingdings" panose="05000000000000000000" pitchFamily="2" charset="2"/>
              <a:buChar char="Ø"/>
            </a:pPr>
            <a:r>
              <a:rPr lang="en-US" sz="2600" dirty="0">
                <a:solidFill>
                  <a:schemeClr val="tx1"/>
                </a:solidFill>
                <a:latin typeface="Times New Roman" pitchFamily="18" charset="0"/>
              </a:rPr>
              <a:t>Key predictors: first-semester grades, attendance patterns, financial factors, and demographic characteristics.</a:t>
            </a:r>
            <a:endParaRPr lang="en-US" sz="2600" dirty="0"/>
          </a:p>
          <a:p>
            <a:pPr>
              <a:buFont typeface="Wingdings" panose="05000000000000000000" pitchFamily="2" charset="2"/>
              <a:buChar char="Ø"/>
            </a:pPr>
            <a:r>
              <a:rPr lang="en-US" sz="2600" dirty="0">
                <a:solidFill>
                  <a:schemeClr val="tx1"/>
                </a:solidFill>
                <a:latin typeface="Times New Roman" pitchFamily="18" charset="0"/>
              </a:rPr>
              <a:t>Critical gap: most models are static (end-of-semester only) and black-box, offering no insight into decision reasoning or critical risk thresholds.</a:t>
            </a:r>
          </a:p>
        </p:txBody>
      </p:sp>
    </p:spTree>
    <p:extLst>
      <p:ext uri="{BB962C8B-B14F-4D97-AF65-F5344CB8AC3E}">
        <p14:creationId xmlns:p14="http://schemas.microsoft.com/office/powerpoint/2010/main" val="674956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5</a:t>
            </a:fld>
            <a:endParaRPr lang="en-US" dirty="0"/>
          </a:p>
        </p:txBody>
      </p:sp>
      <p:sp>
        <p:nvSpPr>
          <p:cNvPr id="7" name="TextBox 6"/>
          <p:cNvSpPr txBox="1"/>
          <p:nvPr/>
        </p:nvSpPr>
        <p:spPr>
          <a:xfrm>
            <a:off x="8991600" y="5334000"/>
            <a:ext cx="914400" cy="369332"/>
          </a:xfrm>
          <a:prstGeom prst="rect">
            <a:avLst/>
          </a:prstGeom>
          <a:noFill/>
        </p:spPr>
        <p:txBody>
          <a:bodyPr wrap="square" rtlCol="0">
            <a:spAutoFit/>
          </a:bodyPr>
          <a:lstStyle/>
          <a:p>
            <a:r>
              <a:rPr lang="en-US" b="1" dirty="0">
                <a:solidFill>
                  <a:srgbClr val="7030A0"/>
                </a:solidFill>
                <a:latin typeface="Times New Roman" pitchFamily="18" charset="0"/>
                <a:cs typeface="Times New Roman" pitchFamily="18" charset="0"/>
              </a:rPr>
              <a:t>cont..</a:t>
            </a:r>
            <a:endParaRPr lang="en-US" b="1" dirty="0"/>
          </a:p>
        </p:txBody>
      </p:sp>
      <p:sp>
        <p:nvSpPr>
          <p:cNvPr id="8" name="Content Placeholder 7">
            <a:extLst>
              <a:ext uri="{FF2B5EF4-FFF2-40B4-BE49-F238E27FC236}">
                <a16:creationId xmlns:a16="http://schemas.microsoft.com/office/drawing/2014/main" id="{A02A1D3E-BE5E-4DD9-8F0D-F0FF825AB0D3}"/>
              </a:ext>
            </a:extLst>
          </p:cNvPr>
          <p:cNvSpPr>
            <a:spLocks noGrp="1"/>
          </p:cNvSpPr>
          <p:nvPr>
            <p:ph sz="quarter" idx="13"/>
          </p:nvPr>
        </p:nvSpPr>
        <p:spPr/>
        <p:txBody>
          <a:bodyPr>
            <a:normAutofit/>
          </a:bodyPr>
          <a:lstStyle/>
          <a:p>
            <a:pPr>
              <a:buFont typeface="Wingdings" panose="05000000000000000000" pitchFamily="2" charset="2"/>
              <a:buChar char="Ø"/>
            </a:pPr>
            <a:r>
              <a:rPr lang="en-US" sz="2600" dirty="0">
                <a:solidFill>
                  <a:schemeClr val="tx1"/>
                </a:solidFill>
                <a:latin typeface="Times New Roman" pitchFamily="18" charset="0"/>
              </a:rPr>
              <a:t>Existing models are static: predictions are only generated at semester-end, missing the window for timely intervention.</a:t>
            </a:r>
            <a:endParaRPr lang="en-US" sz="2600" dirty="0"/>
          </a:p>
          <a:p>
            <a:pPr>
              <a:buFont typeface="Wingdings" panose="05000000000000000000" pitchFamily="2" charset="2"/>
              <a:buChar char="Ø"/>
            </a:pPr>
            <a:r>
              <a:rPr lang="en-US" sz="2600" dirty="0">
                <a:solidFill>
                  <a:schemeClr val="tx1"/>
                </a:solidFill>
                <a:latin typeface="Times New Roman" pitchFamily="18" charset="0"/>
              </a:rPr>
              <a:t>High-accuracy models are black boxes — advisors receive at-risk lists with no explanation of underlying causes.</a:t>
            </a:r>
            <a:endParaRPr lang="en-US" sz="2600" dirty="0"/>
          </a:p>
          <a:p>
            <a:pPr>
              <a:buFont typeface="Wingdings" panose="05000000000000000000" pitchFamily="2" charset="2"/>
              <a:buChar char="Ø"/>
            </a:pPr>
            <a:r>
              <a:rPr lang="en-US" sz="2600" dirty="0">
                <a:solidFill>
                  <a:schemeClr val="tx1"/>
                </a:solidFill>
                <a:latin typeface="Times New Roman" pitchFamily="18" charset="0"/>
              </a:rPr>
              <a:t>Critical thresholds (e.g., absences triggering high risk) and interaction effects between factors remain poorly understood.</a:t>
            </a:r>
          </a:p>
        </p:txBody>
      </p:sp>
    </p:spTree>
    <p:extLst>
      <p:ext uri="{BB962C8B-B14F-4D97-AF65-F5344CB8AC3E}">
        <p14:creationId xmlns:p14="http://schemas.microsoft.com/office/powerpoint/2010/main" val="4225929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6</a:t>
            </a:fld>
            <a:endParaRPr lang="en-US" dirty="0"/>
          </a:p>
        </p:txBody>
      </p:sp>
      <p:sp>
        <p:nvSpPr>
          <p:cNvPr id="7" name="TextBox 6"/>
          <p:cNvSpPr txBox="1"/>
          <p:nvPr/>
        </p:nvSpPr>
        <p:spPr>
          <a:xfrm>
            <a:off x="8991600" y="5334000"/>
            <a:ext cx="914400" cy="369332"/>
          </a:xfrm>
          <a:prstGeom prst="rect">
            <a:avLst/>
          </a:prstGeom>
          <a:noFill/>
        </p:spPr>
        <p:txBody>
          <a:bodyPr wrap="square" rtlCol="0">
            <a:spAutoFit/>
          </a:bodyPr>
          <a:lstStyle/>
          <a:p>
            <a:r>
              <a:rPr lang="en-US" b="1" dirty="0">
                <a:solidFill>
                  <a:srgbClr val="7030A0"/>
                </a:solidFill>
                <a:latin typeface="Times New Roman" pitchFamily="18" charset="0"/>
                <a:cs typeface="Times New Roman" pitchFamily="18" charset="0"/>
              </a:rPr>
              <a:t>cont..</a:t>
            </a:r>
            <a:endParaRPr lang="en-US" b="1" dirty="0"/>
          </a:p>
        </p:txBody>
      </p:sp>
      <p:sp>
        <p:nvSpPr>
          <p:cNvPr id="8" name="Content Placeholder 7">
            <a:extLst>
              <a:ext uri="{FF2B5EF4-FFF2-40B4-BE49-F238E27FC236}">
                <a16:creationId xmlns:a16="http://schemas.microsoft.com/office/drawing/2014/main" id="{A02A1D3E-BE5E-4DD9-8F0D-F0FF825AB0D3}"/>
              </a:ext>
            </a:extLst>
          </p:cNvPr>
          <p:cNvSpPr>
            <a:spLocks noGrp="1"/>
          </p:cNvSpPr>
          <p:nvPr>
            <p:ph sz="quarter" idx="13"/>
          </p:nvPr>
        </p:nvSpPr>
        <p:spPr/>
        <p:txBody>
          <a:bodyPr>
            <a:normAutofit fontScale="92500" lnSpcReduction="10000"/>
          </a:bodyPr>
          <a:lstStyle/>
          <a:p>
            <a:r>
              <a:rPr lang="en-US" sz="2800" dirty="0">
                <a:solidFill>
                  <a:schemeClr val="tx1"/>
                </a:solidFill>
                <a:latin typeface="Times New Roman" pitchFamily="18" charset="0"/>
              </a:rPr>
              <a:t>LSTM (Long Short-Term Memory): Temporal deep learning model tracking student behavior across multiple time steps for dynamic risk score updates.</a:t>
            </a:r>
          </a:p>
          <a:p>
            <a:endParaRPr lang="en-US" sz="2800" dirty="0"/>
          </a:p>
          <a:p>
            <a:r>
              <a:rPr lang="en-US" sz="2800" dirty="0">
                <a:solidFill>
                  <a:schemeClr val="tx1"/>
                </a:solidFill>
                <a:latin typeface="Times New Roman" pitchFamily="18" charset="0"/>
              </a:rPr>
              <a:t>SHAP (Shapley Additive Explanations): Post-hoc explainability providing per-student factor importance and critical threshold identification.</a:t>
            </a:r>
          </a:p>
          <a:p>
            <a:endParaRPr lang="en-US" sz="2800" dirty="0"/>
          </a:p>
          <a:p>
            <a:r>
              <a:rPr lang="en-US" sz="2800" dirty="0">
                <a:solidFill>
                  <a:schemeClr val="tx1"/>
                </a:solidFill>
                <a:latin typeface="Times New Roman" pitchFamily="18" charset="0"/>
              </a:rPr>
              <a:t>Data: Pre-admission records, demographics, financial status, academic performance. Class imbalance handled via SMOTE. Baseline comparison with logistic regression and random forest.</a:t>
            </a:r>
          </a:p>
        </p:txBody>
      </p:sp>
    </p:spTree>
    <p:extLst>
      <p:ext uri="{BB962C8B-B14F-4D97-AF65-F5344CB8AC3E}">
        <p14:creationId xmlns:p14="http://schemas.microsoft.com/office/powerpoint/2010/main" val="3122820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Expected Outcomes</a:t>
            </a:r>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a:buFont typeface="Wingdings" panose="05000000000000000000" pitchFamily="2" charset="2"/>
              <a:buChar char="Ø"/>
            </a:pPr>
            <a:r>
              <a:rPr lang="en-US" sz="2600" dirty="0">
                <a:solidFill>
                  <a:schemeClr val="tx1"/>
                </a:solidFill>
                <a:latin typeface="Times New Roman" pitchFamily="18" charset="0"/>
                <a:cs typeface="Times New Roman" pitchFamily="18" charset="0"/>
              </a:rPr>
              <a:t>A functional LSTM-based dropout prediction system that dynamically updates risk scores throughout the semester, with SHAP-based explanation reports per student.</a:t>
            </a:r>
          </a:p>
          <a:p>
            <a:pPr>
              <a:buFont typeface="Wingdings" panose="05000000000000000000" pitchFamily="2" charset="2"/>
              <a:buChar char="Ø"/>
            </a:pPr>
            <a:endParaRPr lang="en-US" sz="2600" dirty="0">
              <a:solidFill>
                <a:schemeClr val="tx1"/>
              </a:solidFill>
              <a:latin typeface="Times New Roman" pitchFamily="18" charset="0"/>
              <a:cs typeface="Times New Roman" pitchFamily="18" charset="0"/>
            </a:endParaRPr>
          </a:p>
          <a:p>
            <a:pPr>
              <a:buFont typeface="Wingdings" panose="05000000000000000000" pitchFamily="2" charset="2"/>
              <a:buChar char="Ø"/>
            </a:pPr>
            <a:r>
              <a:rPr lang="en-US" sz="2600" dirty="0">
                <a:solidFill>
                  <a:schemeClr val="tx1"/>
                </a:solidFill>
                <a:latin typeface="Times New Roman" pitchFamily="18" charset="0"/>
                <a:cs typeface="Times New Roman" pitchFamily="18" charset="0"/>
              </a:rPr>
              <a:t>Discovery of critical behavioral/academic thresholds; empirical comparison of LSTM vs static models; a reusable methodology for personalized student support systems.</a:t>
            </a: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7</a:t>
            </a:fld>
            <a:endParaRPr lang="en-US" dirty="0"/>
          </a:p>
        </p:txBody>
      </p:sp>
      <p:sp>
        <p:nvSpPr>
          <p:cNvPr id="7" name="TextBox 6"/>
          <p:cNvSpPr txBox="1"/>
          <p:nvPr/>
        </p:nvSpPr>
        <p:spPr>
          <a:xfrm>
            <a:off x="8991600" y="5334000"/>
            <a:ext cx="914400" cy="369332"/>
          </a:xfrm>
          <a:prstGeom prst="rect">
            <a:avLst/>
          </a:prstGeom>
          <a:noFill/>
        </p:spPr>
        <p:txBody>
          <a:bodyPr wrap="square" rtlCol="0">
            <a:spAutoFit/>
          </a:bodyPr>
          <a:lstStyle/>
          <a:p>
            <a:r>
              <a:rPr lang="en-US" b="1" dirty="0">
                <a:solidFill>
                  <a:srgbClr val="7030A0"/>
                </a:solidFill>
                <a:latin typeface="Times New Roman" pitchFamily="18" charset="0"/>
                <a:cs typeface="Times New Roman" pitchFamily="18" charset="0"/>
              </a:rPr>
              <a:t>cont..</a:t>
            </a:r>
            <a:endParaRPr lang="en-US" b="1" dirty="0"/>
          </a:p>
        </p:txBody>
      </p:sp>
    </p:spTree>
    <p:extLst>
      <p:ext uri="{BB962C8B-B14F-4D97-AF65-F5344CB8AC3E}">
        <p14:creationId xmlns:p14="http://schemas.microsoft.com/office/powerpoint/2010/main" val="825664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8</a:t>
            </a:fld>
            <a:endParaRPr lang="en-US" dirty="0"/>
          </a:p>
        </p:txBody>
      </p:sp>
      <p:sp>
        <p:nvSpPr>
          <p:cNvPr id="7" name="TextBox 6"/>
          <p:cNvSpPr txBox="1"/>
          <p:nvPr/>
        </p:nvSpPr>
        <p:spPr>
          <a:xfrm>
            <a:off x="8991600" y="5334000"/>
            <a:ext cx="914400" cy="369332"/>
          </a:xfrm>
          <a:prstGeom prst="rect">
            <a:avLst/>
          </a:prstGeom>
          <a:noFill/>
        </p:spPr>
        <p:txBody>
          <a:bodyPr wrap="square" rtlCol="0">
            <a:spAutoFit/>
          </a:bodyPr>
          <a:lstStyle/>
          <a:p>
            <a:r>
              <a:rPr lang="en-US" b="1" dirty="0">
                <a:solidFill>
                  <a:srgbClr val="7030A0"/>
                </a:solidFill>
                <a:latin typeface="Times New Roman" pitchFamily="18" charset="0"/>
                <a:cs typeface="Times New Roman" pitchFamily="18" charset="0"/>
              </a:rPr>
              <a:t>cont..</a:t>
            </a:r>
            <a:endParaRPr lang="en-US" b="1" dirty="0"/>
          </a:p>
        </p:txBody>
      </p:sp>
      <p:sp>
        <p:nvSpPr>
          <p:cNvPr id="8" name="Content Placeholder 7">
            <a:extLst>
              <a:ext uri="{FF2B5EF4-FFF2-40B4-BE49-F238E27FC236}">
                <a16:creationId xmlns:a16="http://schemas.microsoft.com/office/drawing/2014/main" id="{A02A1D3E-BE5E-4DD9-8F0D-F0FF825AB0D3}"/>
              </a:ext>
            </a:extLst>
          </p:cNvPr>
          <p:cNvSpPr>
            <a:spLocks noGrp="1"/>
          </p:cNvSpPr>
          <p:nvPr>
            <p:ph sz="quarter" idx="13"/>
          </p:nvPr>
        </p:nvSpPr>
        <p:spPr>
          <a:xfrm>
            <a:off x="609600" y="1905000"/>
            <a:ext cx="10972800" cy="3962400"/>
          </a:xfrm>
        </p:spPr>
        <p:txBody>
          <a:bodyPr/>
          <a:lstStyle/>
          <a:p>
            <a:pPr marL="0" indent="0">
              <a:buNone/>
            </a:pPr>
            <a:r>
              <a:rPr lang="en-US" sz="2600" dirty="0">
                <a:solidFill>
                  <a:schemeClr val="tx1"/>
                </a:solidFill>
                <a:latin typeface="Times New Roman" pitchFamily="18" charset="0"/>
              </a:rPr>
              <a:t>This project addresses a critical gap by combining LSTM for real-time dropout risk prediction with SHAP for transparent, per-student explanations. The system will empower academic advisors with actionable, evidence-based tools to intervene early and effectively, moving from guesswork to informed student retention strategies.</a:t>
            </a:r>
          </a:p>
          <a:p>
            <a:endParaRPr lang="en-US" dirty="0"/>
          </a:p>
        </p:txBody>
      </p:sp>
    </p:spTree>
    <p:extLst>
      <p:ext uri="{BB962C8B-B14F-4D97-AF65-F5344CB8AC3E}">
        <p14:creationId xmlns:p14="http://schemas.microsoft.com/office/powerpoint/2010/main" val="3733247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p:txBody>
          <a:bodyPr/>
          <a:lstStyle/>
          <a:p>
            <a:pPr>
              <a:defRPr/>
            </a:pPr>
            <a:fld id="{4CD333A3-7515-47B8-9EDC-EE0892D9C861}" type="slidenum">
              <a:rPr lang="en-US" smtClean="0"/>
              <a:pPr>
                <a:defRPr/>
              </a:pPr>
              <a:t>9</a:t>
            </a:fld>
            <a:endParaRPr lang="en-US" dirty="0"/>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New Microsoft PowerPoint Presentation</Template>
  <TotalTime>783</TotalTime>
  <Words>462</Words>
  <Application>Microsoft Office PowerPoint</Application>
  <PresentationFormat>Widescreen</PresentationFormat>
  <Paragraphs>58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 New Roman</vt:lpstr>
      <vt:lpstr>Wingdings</vt:lpstr>
      <vt:lpstr>New Microsoft PowerPoint Presentation</vt:lpstr>
      <vt:lpstr>Title: Transparent Predictions: Using Interpretable Dynamic Model to Understand University Student Dropout Factors</vt:lpstr>
      <vt:lpstr>Objective</vt:lpstr>
      <vt:lpstr>Motivation</vt:lpstr>
      <vt:lpstr>Background Study</vt:lpstr>
      <vt:lpstr>Gap Analysis</vt:lpstr>
      <vt:lpstr>Methodology</vt:lpstr>
      <vt:lpstr>Expected Outcomes</vt:lpstr>
      <vt:lpstr>Conclusion</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Arnob Das</cp:lastModifiedBy>
  <cp:revision>243</cp:revision>
  <dcterms:created xsi:type="dcterms:W3CDTF">2011-07-17T02:56:35Z</dcterms:created>
  <dcterms:modified xsi:type="dcterms:W3CDTF">2026-04-21T13:49:04Z</dcterms:modified>
</cp:coreProperties>
</file>